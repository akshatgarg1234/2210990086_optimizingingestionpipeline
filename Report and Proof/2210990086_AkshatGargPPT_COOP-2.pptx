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70" r:id="rId7"/>
    <p:sldId id="269" r:id="rId8"/>
    <p:sldId id="272" r:id="rId9"/>
    <p:sldId id="271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948787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Data Ingestion Pipelines for Efficient Big Data Processing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Akshat Garg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2210990086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Rajat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Takkar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Motivation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Traditional Pipelines: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execution → High latency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data reload → Redundant processing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failure handling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parallelism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data availability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resource usage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decision-making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496F59-0059-C477-F496-D29C8AF60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811" y="1487723"/>
            <a:ext cx="3810629" cy="3949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196F-944B-35C8-9898-AE5532F59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8" y="0"/>
            <a:ext cx="5860026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86C02-73B0-F1D2-C194-B2C5579DF40D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Pipeline Approach: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Data Loading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Task Execution (DAG-based)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Monitoring &amp; Alerts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Retry Mechanism for failures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Airflow (Orchestration)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 (Streaming)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RDS (Storage)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326BF-B041-86E8-AFDE-A5E9E06D8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20" y="2267867"/>
            <a:ext cx="4338342" cy="265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85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F9EE1B-0602-E072-68FB-ECE909206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6" y="914040"/>
            <a:ext cx="8229240" cy="543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61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5F0B-F4A0-F489-AA63-980ECE9D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6336890" cy="91404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48C8E-34BA-4DBD-127D-18AA93E97580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~30% faster execution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throughput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reliability 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559AAB-77A9-24CD-34AC-4CC295094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892239"/>
              </p:ext>
            </p:extLst>
          </p:nvPr>
        </p:nvGraphicFramePr>
        <p:xfrm>
          <a:off x="3165987" y="2291474"/>
          <a:ext cx="5437238" cy="2251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4839">
                  <a:extLst>
                    <a:ext uri="{9D8B030D-6E8A-4147-A177-3AD203B41FA5}">
                      <a16:colId xmlns:a16="http://schemas.microsoft.com/office/drawing/2014/main" val="2161334594"/>
                    </a:ext>
                  </a:extLst>
                </a:gridCol>
                <a:gridCol w="2088879">
                  <a:extLst>
                    <a:ext uri="{9D8B030D-6E8A-4147-A177-3AD203B41FA5}">
                      <a16:colId xmlns:a16="http://schemas.microsoft.com/office/drawing/2014/main" val="3558248740"/>
                    </a:ext>
                  </a:extLst>
                </a:gridCol>
                <a:gridCol w="1873520">
                  <a:extLst>
                    <a:ext uri="{9D8B030D-6E8A-4147-A177-3AD203B41FA5}">
                      <a16:colId xmlns:a16="http://schemas.microsoft.com/office/drawing/2014/main" val="2593283344"/>
                    </a:ext>
                  </a:extLst>
                </a:gridCol>
              </a:tblGrid>
              <a:tr h="3785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Metric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Baseline Pipeline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Optimized Pipeline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7258118"/>
                  </a:ext>
                </a:extLst>
              </a:tr>
              <a:tr h="3785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Average Runtime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42 min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29 min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74082637"/>
                  </a:ext>
                </a:extLst>
              </a:tr>
              <a:tr h="3785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Throughput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18,500 records/min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25,200 records/min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8418088"/>
                  </a:ext>
                </a:extLst>
              </a:tr>
              <a:tr h="3785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Failure Rate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7.8%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3.1%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19608520"/>
                  </a:ext>
                </a:extLst>
              </a:tr>
              <a:tr h="7374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Retry Recovery Success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61%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88%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0737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639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A934-9E9B-A320-59EC-E187206C5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6258232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71ADC-D9DF-1040-105B-B0E325C433D5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design &gt; infrastructure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 + incremental loading improves efficiency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pipelines enable better analytics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pipelines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failure prediction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processing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DD15C-B5EB-69D7-FF16-1F83BB1E5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503" y="3224979"/>
            <a:ext cx="3991858" cy="243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21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34745</TotalTime>
  <Words>216</Words>
  <Application>Microsoft Office PowerPoint</Application>
  <PresentationFormat>On-screen Show (4:3)</PresentationFormat>
  <Paragraphs>66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Proposed Solution</vt:lpstr>
      <vt:lpstr>PowerPoint Presentation</vt:lpstr>
      <vt:lpstr>Results &amp; Improvements</vt:lpstr>
      <vt:lpstr>Conclusion &amp; 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Akshat Garg</cp:lastModifiedBy>
  <cp:revision>2301</cp:revision>
  <dcterms:created xsi:type="dcterms:W3CDTF">2010-04-09T07:36:15Z</dcterms:created>
  <dcterms:modified xsi:type="dcterms:W3CDTF">2026-04-29T08:47:56Z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